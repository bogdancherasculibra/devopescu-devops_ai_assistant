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7" r:id="rId2"/>
    <p:sldId id="258" r:id="rId3"/>
    <p:sldId id="299" r:id="rId4"/>
    <p:sldId id="305" r:id="rId5"/>
    <p:sldId id="306" r:id="rId6"/>
    <p:sldId id="281" r:id="rId7"/>
    <p:sldId id="307" r:id="rId8"/>
    <p:sldId id="308" r:id="rId9"/>
    <p:sldId id="265" r:id="rId10"/>
    <p:sldId id="295" r:id="rId11"/>
    <p:sldId id="296" r:id="rId12"/>
    <p:sldId id="309" r:id="rId13"/>
    <p:sldId id="310" r:id="rId14"/>
    <p:sldId id="311" r:id="rId15"/>
    <p:sldId id="267" r:id="rId16"/>
  </p:sldIdLst>
  <p:sldSz cx="12192000" cy="6858000"/>
  <p:notesSz cx="6858000" cy="9144000"/>
  <p:embeddedFontLst>
    <p:embeddedFont>
      <p:font typeface="Jost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DD5D7E-0A20-3D2D-1CD5-EE76A4DA2AFC}" v="5" dt="2026-07-16T06:57:23.863"/>
    <p1510:client id="{43A8AA96-A3F7-A5CE-C4A9-74DBAFC88A74}" v="13" dt="2026-07-16T10:00:58.582"/>
    <p1510:client id="{645E8526-58AC-BDA4-8334-5C02DB3E1C2D}" v="2" dt="2026-07-16T08:04:26.674"/>
    <p1510:client id="{9EC8F60F-BEE5-2B90-356A-5B42AD6BDDB7}" v="3" dt="2026-07-16T10:50:39.4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ctavia  Elena Stefan" userId="S::octavia.stefan@librabank.ro::3f8b7806-23be-49c6-a706-55854f3db92d" providerId="AD" clId="Web-{645E8526-58AC-BDA4-8334-5C02DB3E1C2D}"/>
    <pc:docChg chg="modSld">
      <pc:chgData name="Octavia  Elena Stefan" userId="S::octavia.stefan@librabank.ro::3f8b7806-23be-49c6-a706-55854f3db92d" providerId="AD" clId="Web-{645E8526-58AC-BDA4-8334-5C02DB3E1C2D}" dt="2026-07-16T08:04:26.674" v="1" actId="1076"/>
      <pc:docMkLst>
        <pc:docMk/>
      </pc:docMkLst>
      <pc:sldChg chg="modSp">
        <pc:chgData name="Octavia  Elena Stefan" userId="S::octavia.stefan@librabank.ro::3f8b7806-23be-49c6-a706-55854f3db92d" providerId="AD" clId="Web-{645E8526-58AC-BDA4-8334-5C02DB3E1C2D}" dt="2026-07-16T08:04:26.674" v="1" actId="1076"/>
        <pc:sldMkLst>
          <pc:docMk/>
          <pc:sldMk cId="688623189" sldId="295"/>
        </pc:sldMkLst>
        <pc:spChg chg="mod">
          <ac:chgData name="Octavia  Elena Stefan" userId="S::octavia.stefan@librabank.ro::3f8b7806-23be-49c6-a706-55854f3db92d" providerId="AD" clId="Web-{645E8526-58AC-BDA4-8334-5C02DB3E1C2D}" dt="2026-07-16T08:04:26.674" v="1" actId="1076"/>
          <ac:spMkLst>
            <pc:docMk/>
            <pc:sldMk cId="688623189" sldId="295"/>
            <ac:spMk id="164" creationId="{677C7598-998A-2B36-2DF7-DAABBABAEE20}"/>
          </ac:spMkLst>
        </pc:spChg>
      </pc:sldChg>
    </pc:docChg>
  </pc:docChgLst>
  <pc:docChgLst>
    <pc:chgData name="Nicolae Bogdan Cherascu Telitoiu" userId="S::nicolae.cherascu@librabank.ro::711ab079-3b0c-451e-9379-7ca8c940bc47" providerId="AD" clId="Web-{34DD5D7E-0A20-3D2D-1CD5-EE76A4DA2AFC}"/>
    <pc:docChg chg="modSld">
      <pc:chgData name="Nicolae Bogdan Cherascu Telitoiu" userId="S::nicolae.cherascu@librabank.ro::711ab079-3b0c-451e-9379-7ca8c940bc47" providerId="AD" clId="Web-{34DD5D7E-0A20-3D2D-1CD5-EE76A4DA2AFC}" dt="2026-07-16T06:57:00.877" v="1" actId="20577"/>
      <pc:docMkLst>
        <pc:docMk/>
      </pc:docMkLst>
      <pc:sldChg chg="modSp">
        <pc:chgData name="Nicolae Bogdan Cherascu Telitoiu" userId="S::nicolae.cherascu@librabank.ro::711ab079-3b0c-451e-9379-7ca8c940bc47" providerId="AD" clId="Web-{34DD5D7E-0A20-3D2D-1CD5-EE76A4DA2AFC}" dt="2026-07-16T06:57:00.877" v="1" actId="20577"/>
        <pc:sldMkLst>
          <pc:docMk/>
          <pc:sldMk cId="4086079065" sldId="305"/>
        </pc:sldMkLst>
        <pc:spChg chg="mod">
          <ac:chgData name="Nicolae Bogdan Cherascu Telitoiu" userId="S::nicolae.cherascu@librabank.ro::711ab079-3b0c-451e-9379-7ca8c940bc47" providerId="AD" clId="Web-{34DD5D7E-0A20-3D2D-1CD5-EE76A4DA2AFC}" dt="2026-07-16T06:57:00.877" v="1" actId="20577"/>
          <ac:spMkLst>
            <pc:docMk/>
            <pc:sldMk cId="4086079065" sldId="305"/>
            <ac:spMk id="2" creationId="{8BB79568-2F20-250A-0E1C-12769E7DCD98}"/>
          </ac:spMkLst>
        </pc:spChg>
      </pc:sldChg>
    </pc:docChg>
  </pc:docChgLst>
  <pc:docChgLst>
    <pc:chgData name="George Dinu" userId="S::george.dinu@librabank.ro::f4ab6243-561b-4467-8613-79188b08993d" providerId="AD" clId="Web-{43A8AA96-A3F7-A5CE-C4A9-74DBAFC88A74}"/>
    <pc:docChg chg="modSld">
      <pc:chgData name="George Dinu" userId="S::george.dinu@librabank.ro::f4ab6243-561b-4467-8613-79188b08993d" providerId="AD" clId="Web-{43A8AA96-A3F7-A5CE-C4A9-74DBAFC88A74}" dt="2026-07-16T10:00:58.582" v="10" actId="1076"/>
      <pc:docMkLst>
        <pc:docMk/>
      </pc:docMkLst>
      <pc:sldChg chg="modSp">
        <pc:chgData name="George Dinu" userId="S::george.dinu@librabank.ro::f4ab6243-561b-4467-8613-79188b08993d" providerId="AD" clId="Web-{43A8AA96-A3F7-A5CE-C4A9-74DBAFC88A74}" dt="2026-07-16T10:00:58.582" v="10" actId="1076"/>
        <pc:sldMkLst>
          <pc:docMk/>
          <pc:sldMk cId="316355468" sldId="296"/>
        </pc:sldMkLst>
        <pc:spChg chg="mod ord">
          <ac:chgData name="George Dinu" userId="S::george.dinu@librabank.ro::f4ab6243-561b-4467-8613-79188b08993d" providerId="AD" clId="Web-{43A8AA96-A3F7-A5CE-C4A9-74DBAFC88A74}" dt="2026-07-16T10:00:58.582" v="10" actId="1076"/>
          <ac:spMkLst>
            <pc:docMk/>
            <pc:sldMk cId="316355468" sldId="296"/>
            <ac:spMk id="169" creationId="{74553A5A-825C-DB1D-BD87-9D97DACC432E}"/>
          </ac:spMkLst>
        </pc:spChg>
      </pc:sldChg>
    </pc:docChg>
  </pc:docChgLst>
  <pc:docChgLst>
    <pc:chgData name="Ioana Dora Stefania Ciltea" userId="S::ioana.ciltea@librabank.ro::78239bc5-5eac-4afd-a90e-9228913016d0" providerId="AD" clId="Web-{9EC8F60F-BEE5-2B90-356A-5B42AD6BDDB7}"/>
    <pc:docChg chg="modSld">
      <pc:chgData name="Ioana Dora Stefania Ciltea" userId="S::ioana.ciltea@librabank.ro::78239bc5-5eac-4afd-a90e-9228913016d0" providerId="AD" clId="Web-{9EC8F60F-BEE5-2B90-356A-5B42AD6BDDB7}" dt="2026-07-16T10:50:39.445" v="2" actId="1076"/>
      <pc:docMkLst>
        <pc:docMk/>
      </pc:docMkLst>
      <pc:sldChg chg="modSp">
        <pc:chgData name="Ioana Dora Stefania Ciltea" userId="S::ioana.ciltea@librabank.ro::78239bc5-5eac-4afd-a90e-9228913016d0" providerId="AD" clId="Web-{9EC8F60F-BEE5-2B90-356A-5B42AD6BDDB7}" dt="2026-07-16T10:26:57.382" v="0" actId="1076"/>
        <pc:sldMkLst>
          <pc:docMk/>
          <pc:sldMk cId="0" sldId="265"/>
        </pc:sldMkLst>
        <pc:spChg chg="mod">
          <ac:chgData name="Ioana Dora Stefania Ciltea" userId="S::ioana.ciltea@librabank.ro::78239bc5-5eac-4afd-a90e-9228913016d0" providerId="AD" clId="Web-{9EC8F60F-BEE5-2B90-356A-5B42AD6BDDB7}" dt="2026-07-16T10:26:57.382" v="0" actId="1076"/>
          <ac:spMkLst>
            <pc:docMk/>
            <pc:sldMk cId="0" sldId="265"/>
            <ac:spMk id="164" creationId="{00000000-0000-0000-0000-000000000000}"/>
          </ac:spMkLst>
        </pc:spChg>
      </pc:sldChg>
      <pc:sldChg chg="modSp">
        <pc:chgData name="Ioana Dora Stefania Ciltea" userId="S::ioana.ciltea@librabank.ro::78239bc5-5eac-4afd-a90e-9228913016d0" providerId="AD" clId="Web-{9EC8F60F-BEE5-2B90-356A-5B42AD6BDDB7}" dt="2026-07-16T10:50:39.445" v="2" actId="1076"/>
        <pc:sldMkLst>
          <pc:docMk/>
          <pc:sldMk cId="316355468" sldId="296"/>
        </pc:sldMkLst>
        <pc:spChg chg="mod">
          <ac:chgData name="Ioana Dora Stefania Ciltea" userId="S::ioana.ciltea@librabank.ro::78239bc5-5eac-4afd-a90e-9228913016d0" providerId="AD" clId="Web-{9EC8F60F-BEE5-2B90-356A-5B42AD6BDDB7}" dt="2026-07-16T10:50:39.445" v="2" actId="1076"/>
          <ac:spMkLst>
            <pc:docMk/>
            <pc:sldMk cId="316355468" sldId="296"/>
            <ac:spMk id="164" creationId="{8F5D6841-EF3D-CF61-10CA-A91EE1A0E0D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f689b10e5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2f689b10e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BE78C53F-EDBA-2E3D-4599-F61B79F12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564D759A-5D27-80EE-92C3-E32257387C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A1099787-8128-88FF-4AC8-256120553E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203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42EAD086-209E-5E10-A2CA-45D5B7174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DC43109C-18D4-F669-BF14-F397FE56DA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C14E5BC6-CCD0-48CA-A03B-EF1CED84D5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90551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383B68D8-DF5D-3463-9114-CBF6971B3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0E7A3524-04A5-0C96-20C5-0B224CB7B8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48923B94-415E-3832-6D98-2877D16F2A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3851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F8F99EC4-E6A0-DE38-85FB-3A165A819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22BF464C-74CB-A84A-F54F-E27D034B1F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106FF71C-D794-879C-100A-22C6AC7E77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2526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F4B13FE5-736C-4434-5939-CD021C290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E8E3CC6A-F8CD-8A4F-9A12-7C61F3E60D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C968D670-0BC6-9F39-D85C-4C473DC620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1567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CE45A77F-C208-FFEF-FF29-F2AD2FDC8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5D5B7887-6BBA-C297-062D-A57031F759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E29AE4D0-1DFB-E737-219D-2B922B2260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79574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0287DD87-277A-721C-7258-47A2E3501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>
            <a:extLst>
              <a:ext uri="{FF2B5EF4-FFF2-40B4-BE49-F238E27FC236}">
                <a16:creationId xmlns:a16="http://schemas.microsoft.com/office/drawing/2014/main" id="{5323DE8A-9F54-5E27-B7EF-E5B40DF56D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>
            <a:extLst>
              <a:ext uri="{FF2B5EF4-FFF2-40B4-BE49-F238E27FC236}">
                <a16:creationId xmlns:a16="http://schemas.microsoft.com/office/drawing/2014/main" id="{A88C07F0-D380-051C-EB82-7924E9925E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80344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1C808485-0D7D-215D-397E-B7BEFB5A1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>
            <a:extLst>
              <a:ext uri="{FF2B5EF4-FFF2-40B4-BE49-F238E27FC236}">
                <a16:creationId xmlns:a16="http://schemas.microsoft.com/office/drawing/2014/main" id="{35057E5A-A2AD-CA8D-2783-844DF4FBB3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>
            <a:extLst>
              <a:ext uri="{FF2B5EF4-FFF2-40B4-BE49-F238E27FC236}">
                <a16:creationId xmlns:a16="http://schemas.microsoft.com/office/drawing/2014/main" id="{8B302779-DD05-1B9D-7C4A-D820B2E9D8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11574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0F0B821E-5B0C-D75D-1369-8F8FFDE01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>
            <a:extLst>
              <a:ext uri="{FF2B5EF4-FFF2-40B4-BE49-F238E27FC236}">
                <a16:creationId xmlns:a16="http://schemas.microsoft.com/office/drawing/2014/main" id="{70C8EC5F-23D6-A204-71B5-E89B97A8AA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>
            <a:extLst>
              <a:ext uri="{FF2B5EF4-FFF2-40B4-BE49-F238E27FC236}">
                <a16:creationId xmlns:a16="http://schemas.microsoft.com/office/drawing/2014/main" id="{68B2AFB9-688E-E4BA-FAA8-ACB0EEAD95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7081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5889A3F8-4BFA-3CCB-8291-F28030AE4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>
            <a:extLst>
              <a:ext uri="{FF2B5EF4-FFF2-40B4-BE49-F238E27FC236}">
                <a16:creationId xmlns:a16="http://schemas.microsoft.com/office/drawing/2014/main" id="{B1816156-1ED8-641E-DD23-284BA548C3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>
            <a:extLst>
              <a:ext uri="{FF2B5EF4-FFF2-40B4-BE49-F238E27FC236}">
                <a16:creationId xmlns:a16="http://schemas.microsoft.com/office/drawing/2014/main" id="{47FA11B6-F735-6341-93A4-B8A86F18A0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83381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E7583B53-80BA-40FE-1574-9BEF6C883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>
            <a:extLst>
              <a:ext uri="{FF2B5EF4-FFF2-40B4-BE49-F238E27FC236}">
                <a16:creationId xmlns:a16="http://schemas.microsoft.com/office/drawing/2014/main" id="{6546D378-95C6-E327-29DB-C03653D42D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>
            <a:extLst>
              <a:ext uri="{FF2B5EF4-FFF2-40B4-BE49-F238E27FC236}">
                <a16:creationId xmlns:a16="http://schemas.microsoft.com/office/drawing/2014/main" id="{BA53329C-BB0D-C409-C349-A71C154E64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72300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0" y="-1"/>
            <a:ext cx="12192000" cy="25413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11573" y="260073"/>
            <a:ext cx="9693407" cy="197108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0" y="3822506"/>
            <a:ext cx="1219200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5400" b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SESIUNEA 6</a:t>
            </a:r>
            <a:r>
              <a:rPr lang="en-US" sz="5400" b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: </a:t>
            </a:r>
            <a:endParaRPr lang="ro-RO" sz="5400" b="1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5400" b="1">
                <a:solidFill>
                  <a:srgbClr val="0283F0"/>
                </a:solidFill>
                <a:latin typeface="Jost"/>
                <a:ea typeface="Jost"/>
                <a:sym typeface="Jost"/>
              </a:rPr>
              <a:t>ORCHESTRARE ȘI AUTOMATIZARE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0" y="-2"/>
            <a:ext cx="12192000" cy="6858001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27130" y="686280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4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AGENDĂ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300570" y="1791432"/>
            <a:ext cx="9563700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Azure AI Foundry Overview</a:t>
            </a:r>
          </a:p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Prompt Management</a:t>
            </a:r>
          </a:p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Context Window &amp; Token Management</a:t>
            </a:r>
          </a:p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Retrieval Augmented Generation (RAG)</a:t>
            </a:r>
          </a:p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Backend Architecture for AI Applications</a:t>
            </a:r>
          </a:p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Hands-on: </a:t>
            </a:r>
            <a:r>
              <a:rPr lang="en-US" sz="18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Extinderea</a:t>
            </a:r>
            <a:r>
              <a:rPr lang="en-US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chatbot-</a:t>
            </a:r>
            <a:r>
              <a:rPr lang="en-US" sz="18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ului</a:t>
            </a:r>
            <a:r>
              <a:rPr lang="en-US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existent</a:t>
            </a:r>
            <a:endParaRPr sz="18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15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4945B40A-6937-86EF-E1C0-E7EE57D4E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6C9A09F9-55EA-8AF2-B282-C51412E82958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E104A14A-60A6-64CA-E497-B6354EAB8FEC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o-RO" sz="320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Azure AI Foundry</a:t>
            </a:r>
            <a:endParaRPr sz="320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C424A077-8FDB-DB0A-DBE4-66CDB5D283BB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141D0A56-ED9A-6815-2530-7BCD5B8D94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9;p21">
            <a:extLst>
              <a:ext uri="{FF2B5EF4-FFF2-40B4-BE49-F238E27FC236}">
                <a16:creationId xmlns:a16="http://schemas.microsoft.com/office/drawing/2014/main" id="{5502FB06-8E70-C346-11F1-F840CBBA66B4}"/>
              </a:ext>
            </a:extLst>
          </p:cNvPr>
          <p:cNvSpPr txBox="1"/>
          <p:nvPr/>
        </p:nvSpPr>
        <p:spPr>
          <a:xfrm>
            <a:off x="869808" y="1395073"/>
            <a:ext cx="10986939" cy="424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sz="18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Azure AI Foundry oferă: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sz="180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8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modele AI găzduite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8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management de endpoint-uri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8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monitorizare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8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evaluare modele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8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control acces și securitate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8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integrare cu aplicații enterprise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sz="180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ro-RO" sz="18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Azure AI Foundry este infrastructura. Agentul și logica aplicației rămân responsabilitatea noastră.</a:t>
            </a:r>
          </a:p>
        </p:txBody>
      </p:sp>
    </p:spTree>
    <p:extLst>
      <p:ext uri="{BB962C8B-B14F-4D97-AF65-F5344CB8AC3E}">
        <p14:creationId xmlns:p14="http://schemas.microsoft.com/office/powerpoint/2010/main" val="293273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55DBE8FA-8174-E369-7972-586CD6FFB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6F1901A9-8A04-1893-6F8C-7F4E481CB838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8B2CE971-9BBC-4C4F-EBC7-ADDB8F092F63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o-RO" sz="320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Prompt Management</a:t>
            </a:r>
            <a:endParaRPr sz="320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7ECDFBED-8515-0617-E366-F0A9E6007CC8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7DBD5975-63C6-0D27-1969-C3A15D6924C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9;p21">
            <a:extLst>
              <a:ext uri="{FF2B5EF4-FFF2-40B4-BE49-F238E27FC236}">
                <a16:creationId xmlns:a16="http://schemas.microsoft.com/office/drawing/2014/main" id="{8BB79568-2F20-250A-0E1C-12769E7DCD98}"/>
              </a:ext>
            </a:extLst>
          </p:cNvPr>
          <p:cNvSpPr txBox="1"/>
          <p:nvPr/>
        </p:nvSpPr>
        <p:spPr>
          <a:xfrm>
            <a:off x="869808" y="1395073"/>
            <a:ext cx="10986939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sz="18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Best practices:</a:t>
            </a:r>
          </a:p>
          <a:p>
            <a:pPr lvl="0">
              <a:lnSpc>
                <a:spcPct val="150000"/>
              </a:lnSpc>
            </a:pPr>
            <a:endParaRPr lang="ro-RO" sz="180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8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prompturi separate de cod;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8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reutilizare;</a:t>
            </a:r>
            <a:endParaRPr lang="ro-RO" sz="1800">
              <a:solidFill>
                <a:srgbClr val="7F7F7F"/>
              </a:solidFill>
              <a:latin typeface="Jost"/>
              <a:ea typeface="Jost"/>
              <a:cs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8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versionare;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8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testare independentă.</a:t>
            </a:r>
          </a:p>
        </p:txBody>
      </p:sp>
    </p:spTree>
    <p:extLst>
      <p:ext uri="{BB962C8B-B14F-4D97-AF65-F5344CB8AC3E}">
        <p14:creationId xmlns:p14="http://schemas.microsoft.com/office/powerpoint/2010/main" val="4086079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BB46C815-5B37-ACCB-BA95-62D0DD371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C535C41F-8ADF-314A-39B0-6194E0ACECA0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7C29F012-272D-A22D-603C-97268023AA95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o-RO" sz="320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Context Window &amp; Token Management</a:t>
            </a:r>
            <a:endParaRPr sz="320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3C61C06E-9A77-51E5-3575-541A1418715F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BD20EC81-7FAB-AA07-7A00-E49DD2C3622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9;p21">
            <a:extLst>
              <a:ext uri="{FF2B5EF4-FFF2-40B4-BE49-F238E27FC236}">
                <a16:creationId xmlns:a16="http://schemas.microsoft.com/office/drawing/2014/main" id="{5C64CE81-512A-FD2D-4214-9E8FCF0E93D2}"/>
              </a:ext>
            </a:extLst>
          </p:cNvPr>
          <p:cNvSpPr txBox="1"/>
          <p:nvPr/>
        </p:nvSpPr>
        <p:spPr>
          <a:xfrm>
            <a:off x="869808" y="1395073"/>
            <a:ext cx="4901727" cy="4939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600" b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Model Context Window</a:t>
            </a:r>
          </a:p>
          <a:p>
            <a:pPr lvl="0">
              <a:lnSpc>
                <a:spcPct val="150000"/>
              </a:lnSpc>
            </a:pPr>
            <a:r>
              <a:rPr lang="en-US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[Prompt]</a:t>
            </a:r>
          </a:p>
          <a:p>
            <a:pPr lvl="0">
              <a:lnSpc>
                <a:spcPct val="150000"/>
              </a:lnSpc>
            </a:pPr>
            <a:r>
              <a:rPr lang="en-US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[Facts]</a:t>
            </a:r>
          </a:p>
          <a:p>
            <a:pPr lvl="0">
              <a:lnSpc>
                <a:spcPct val="150000"/>
              </a:lnSpc>
            </a:pPr>
            <a:r>
              <a:rPr lang="en-US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[Procedures]</a:t>
            </a:r>
          </a:p>
          <a:p>
            <a:pPr lvl="0">
              <a:lnSpc>
                <a:spcPct val="150000"/>
              </a:lnSpc>
            </a:pPr>
            <a:r>
              <a:rPr lang="en-US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[User Question]</a:t>
            </a:r>
            <a:endParaRPr lang="ro-RO" sz="160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ro-RO" sz="160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ro-RO" sz="1600" b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Problema</a:t>
            </a:r>
          </a:p>
          <a:p>
            <a:pPr lvl="0">
              <a:lnSpc>
                <a:spcPct val="150000"/>
              </a:lnSpc>
            </a:pP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Context prea mare</a:t>
            </a:r>
          </a:p>
          <a:p>
            <a:pPr lvl="0">
              <a:lnSpc>
                <a:spcPct val="150000"/>
              </a:lnSpc>
            </a:pP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↓</a:t>
            </a:r>
          </a:p>
          <a:p>
            <a:pPr lvl="0">
              <a:lnSpc>
                <a:spcPct val="150000"/>
              </a:lnSpc>
            </a:pP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Cost mai mare</a:t>
            </a:r>
          </a:p>
          <a:p>
            <a:pPr lvl="0">
              <a:lnSpc>
                <a:spcPct val="150000"/>
              </a:lnSpc>
            </a:pP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↓</a:t>
            </a:r>
          </a:p>
          <a:p>
            <a:pPr lvl="0">
              <a:lnSpc>
                <a:spcPct val="150000"/>
              </a:lnSpc>
            </a:pP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Performanță mai slabă</a:t>
            </a:r>
          </a:p>
          <a:p>
            <a:pPr lvl="0">
              <a:lnSpc>
                <a:spcPct val="150000"/>
              </a:lnSpc>
            </a:pP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↓</a:t>
            </a:r>
          </a:p>
          <a:p>
            <a:pPr lvl="0">
              <a:lnSpc>
                <a:spcPct val="150000"/>
              </a:lnSpc>
            </a:pP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Informații ignorate</a:t>
            </a:r>
          </a:p>
        </p:txBody>
      </p:sp>
      <p:sp>
        <p:nvSpPr>
          <p:cNvPr id="3" name="Google Shape;159;p21">
            <a:extLst>
              <a:ext uri="{FF2B5EF4-FFF2-40B4-BE49-F238E27FC236}">
                <a16:creationId xmlns:a16="http://schemas.microsoft.com/office/drawing/2014/main" id="{74DE2A77-0F8F-133F-B0AC-0623420BBC87}"/>
              </a:ext>
            </a:extLst>
          </p:cNvPr>
          <p:cNvSpPr txBox="1"/>
          <p:nvPr/>
        </p:nvSpPr>
        <p:spPr>
          <a:xfrm>
            <a:off x="5604040" y="3686441"/>
            <a:ext cx="4901727" cy="2077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sz="1600" b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Soluții</a:t>
            </a:r>
          </a:p>
          <a:p>
            <a:pPr lvl="0">
              <a:lnSpc>
                <a:spcPct val="150000"/>
              </a:lnSpc>
            </a:pP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Always_load management</a:t>
            </a:r>
          </a:p>
          <a:p>
            <a:pPr lvl="0">
              <a:lnSpc>
                <a:spcPct val="150000"/>
              </a:lnSpc>
            </a:pP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+</a:t>
            </a:r>
          </a:p>
          <a:p>
            <a:pPr lvl="0">
              <a:lnSpc>
                <a:spcPct val="150000"/>
              </a:lnSpc>
            </a:pP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Semantic Search</a:t>
            </a:r>
          </a:p>
          <a:p>
            <a:pPr lvl="0">
              <a:lnSpc>
                <a:spcPct val="150000"/>
              </a:lnSpc>
            </a:pP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+</a:t>
            </a:r>
          </a:p>
          <a:p>
            <a:pPr lvl="0">
              <a:lnSpc>
                <a:spcPct val="150000"/>
              </a:lnSpc>
            </a:pP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Top N Chunks</a:t>
            </a:r>
          </a:p>
        </p:txBody>
      </p:sp>
    </p:spTree>
    <p:extLst>
      <p:ext uri="{BB962C8B-B14F-4D97-AF65-F5344CB8AC3E}">
        <p14:creationId xmlns:p14="http://schemas.microsoft.com/office/powerpoint/2010/main" val="3734714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AD638F30-FF7C-424B-8A69-81441AAB3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A6BEEBAE-4111-7D12-3532-AFB1447A750A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0AAFAAA9-3395-5C2E-1625-0EF2877F176D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o-RO" sz="320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Azure AI Foundry</a:t>
            </a:r>
            <a:endParaRPr sz="320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724AF567-3C41-3FB6-7E6D-41C98A7769F1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39016945-DB8F-F8A5-A30C-8DC6D28EB7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9;p21">
            <a:extLst>
              <a:ext uri="{FF2B5EF4-FFF2-40B4-BE49-F238E27FC236}">
                <a16:creationId xmlns:a16="http://schemas.microsoft.com/office/drawing/2014/main" id="{6191CF4A-5874-39A8-8D85-2C93C126763C}"/>
              </a:ext>
            </a:extLst>
          </p:cNvPr>
          <p:cNvSpPr txBox="1"/>
          <p:nvPr/>
        </p:nvSpPr>
        <p:spPr>
          <a:xfrm>
            <a:off x="731296" y="1006406"/>
            <a:ext cx="10986939" cy="7017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it-IT" sz="240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Formate </a:t>
            </a:r>
            <a:r>
              <a:rPr lang="it-IT" sz="240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utilizate</a:t>
            </a:r>
            <a:r>
              <a:rPr lang="it-IT" sz="240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240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frecvent</a:t>
            </a:r>
            <a:r>
              <a:rPr lang="it-IT" sz="240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240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it-IT" sz="240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240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aplicațiile</a:t>
            </a:r>
            <a:r>
              <a:rPr lang="it-IT" sz="240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AI</a:t>
            </a:r>
            <a:endParaRPr lang="ro-RO" sz="240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endParaRPr lang="ro-RO" sz="240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240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JSON</a:t>
            </a:r>
            <a:endParaRPr lang="it-IT" sz="160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Structurat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Cheie -</a:t>
            </a:r>
            <a:r>
              <a:rPr lang="en-US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 </a:t>
            </a:r>
            <a:r>
              <a:rPr lang="en-US" sz="160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valoare</a:t>
            </a:r>
            <a:endParaRPr lang="ro-RO" sz="160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ro-RO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240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CSV</a:t>
            </a:r>
            <a:endParaRPr lang="it-IT" sz="240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Date </a:t>
            </a:r>
            <a:r>
              <a:rPr lang="it-IT" sz="160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tabelare</a:t>
            </a:r>
            <a:endParaRPr lang="it-IT" sz="160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Separatoare</a:t>
            </a:r>
            <a:r>
              <a:rPr lang="it-IT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160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it-IT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new </a:t>
            </a:r>
            <a:r>
              <a:rPr lang="it-IT" sz="160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cell</a:t>
            </a:r>
            <a:r>
              <a:rPr lang="it-IT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&amp; new line</a:t>
            </a:r>
            <a:endParaRPr lang="ro-RO" sz="160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sz="160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240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PDF</a:t>
            </a:r>
            <a:endParaRPr lang="it-IT" sz="240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</a:t>
            </a: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ocumente nestructurate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sz="160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Scopul nostru</a:t>
            </a:r>
            <a:r>
              <a:rPr lang="en-US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</a:t>
            </a:r>
            <a:r>
              <a:rPr lang="en-US" sz="160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Transformarea</a:t>
            </a:r>
            <a:r>
              <a:rPr lang="en-US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datelor</a:t>
            </a:r>
            <a:r>
              <a:rPr lang="en-US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din </a:t>
            </a:r>
            <a:r>
              <a:rPr lang="en-US" sz="160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fișiere</a:t>
            </a:r>
            <a:r>
              <a:rPr lang="en-US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text care </a:t>
            </a:r>
            <a:r>
              <a:rPr lang="en-US" sz="160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poate</a:t>
            </a:r>
            <a:r>
              <a:rPr lang="en-US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fi </a:t>
            </a:r>
            <a:r>
              <a:rPr lang="en-US" sz="160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procesat</a:t>
            </a:r>
            <a:r>
              <a:rPr lang="en-US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de un LLM.</a:t>
            </a:r>
            <a:endParaRPr lang="it-IT" sz="160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ro-RO" sz="160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ro-RO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ro-RO" sz="240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sz="240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3380359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33F79970-0CAE-3D0A-A75E-7D696A6C9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54A1749A-0820-843D-FD5A-A1B71D0DD001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7D1AFDDA-5499-66D3-7180-13674A1136DC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RAG (Retrieval </a:t>
            </a:r>
            <a:r>
              <a:rPr lang="en-US" sz="320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Augumented</a:t>
            </a:r>
            <a:r>
              <a:rPr lang="en-US" sz="320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Generation)</a:t>
            </a:r>
            <a:endParaRPr sz="320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F2A25D8C-CD15-FB6D-8B1F-6ADF09BFF0E4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5B1EEDBA-13FC-1ADF-6904-E446AEFF71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9;p21">
            <a:extLst>
              <a:ext uri="{FF2B5EF4-FFF2-40B4-BE49-F238E27FC236}">
                <a16:creationId xmlns:a16="http://schemas.microsoft.com/office/drawing/2014/main" id="{46676CE2-871E-4389-3602-B298A99FBB1B}"/>
              </a:ext>
            </a:extLst>
          </p:cNvPr>
          <p:cNvSpPr txBox="1"/>
          <p:nvPr/>
        </p:nvSpPr>
        <p:spPr>
          <a:xfrm>
            <a:off x="549965" y="868752"/>
            <a:ext cx="11092070" cy="563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Question</a:t>
            </a:r>
          </a:p>
          <a:p>
            <a:pPr lvl="0" algn="ctr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   ↓</a:t>
            </a:r>
          </a:p>
          <a:p>
            <a:pPr lvl="0" algn="ctr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Embedding</a:t>
            </a:r>
          </a:p>
          <a:p>
            <a:pPr lvl="0" algn="ctr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   ↓</a:t>
            </a:r>
          </a:p>
          <a:p>
            <a:pPr lvl="0" algn="ctr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Semantic Search</a:t>
            </a:r>
          </a:p>
          <a:p>
            <a:pPr lvl="0" algn="ctr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   ↓</a:t>
            </a:r>
          </a:p>
          <a:p>
            <a:pPr lvl="0" algn="ctr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Top Chunks</a:t>
            </a:r>
          </a:p>
          <a:p>
            <a:pPr lvl="0" algn="ctr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   ↓</a:t>
            </a:r>
          </a:p>
          <a:p>
            <a:pPr lvl="0" algn="ctr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Prompt</a:t>
            </a:r>
          </a:p>
          <a:p>
            <a:pPr lvl="0" algn="ctr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   ↓</a:t>
            </a:r>
          </a:p>
          <a:p>
            <a:pPr lvl="0" algn="ctr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LLM</a:t>
            </a:r>
          </a:p>
          <a:p>
            <a:pPr lvl="0" algn="ctr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   ↓</a:t>
            </a:r>
          </a:p>
          <a:p>
            <a:pPr lvl="0" algn="ctr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Answer</a:t>
            </a:r>
          </a:p>
          <a:p>
            <a:pPr lvl="0" algn="ctr">
              <a:lnSpc>
                <a:spcPct val="150000"/>
              </a:lnSpc>
            </a:pPr>
            <a:endParaRPr lang="ro-RO" sz="160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 algn="ctr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Nu trimitem toată baza de cunoștințe către model. Trimitem doar informația relevantă.</a:t>
            </a:r>
          </a:p>
        </p:txBody>
      </p:sp>
    </p:spTree>
    <p:extLst>
      <p:ext uri="{BB962C8B-B14F-4D97-AF65-F5344CB8AC3E}">
        <p14:creationId xmlns:p14="http://schemas.microsoft.com/office/powerpoint/2010/main" val="3443351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D091AB01-6B60-D2FC-3D89-0E2A6275A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DD2E5E10-007C-FD73-85D2-23149990FC51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22C359ED-7A6D-FBC2-880E-7073DE2623CF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Backend Architecture</a:t>
            </a:r>
            <a:endParaRPr sz="320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79380379-3372-9592-7FCF-3324B489F028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C4D44ECA-DAB0-3A23-2CDB-38516763C2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9;p21">
            <a:extLst>
              <a:ext uri="{FF2B5EF4-FFF2-40B4-BE49-F238E27FC236}">
                <a16:creationId xmlns:a16="http://schemas.microsoft.com/office/drawing/2014/main" id="{383FC4AE-9BCC-1D54-78F6-1EA78D7DE61E}"/>
              </a:ext>
            </a:extLst>
          </p:cNvPr>
          <p:cNvSpPr txBox="1"/>
          <p:nvPr/>
        </p:nvSpPr>
        <p:spPr>
          <a:xfrm>
            <a:off x="549965" y="868752"/>
            <a:ext cx="11092070" cy="563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User</a:t>
            </a:r>
          </a:p>
          <a:p>
            <a:pPr lvl="0" algn="ctr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↓</a:t>
            </a:r>
          </a:p>
          <a:p>
            <a:pPr lvl="0" algn="ctr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Agent</a:t>
            </a:r>
          </a:p>
          <a:p>
            <a:pPr lvl="0" algn="ctr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↓</a:t>
            </a:r>
          </a:p>
          <a:p>
            <a:pPr lvl="0" algn="ctr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Conversation Context</a:t>
            </a:r>
          </a:p>
          <a:p>
            <a:pPr lvl="0" algn="ctr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↓</a:t>
            </a:r>
          </a:p>
          <a:p>
            <a:pPr lvl="0" algn="ctr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Knowledge Base</a:t>
            </a:r>
          </a:p>
          <a:p>
            <a:pPr lvl="0" algn="ctr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↓</a:t>
            </a:r>
          </a:p>
          <a:p>
            <a:pPr lvl="0" algn="ctr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Embedding Search</a:t>
            </a:r>
          </a:p>
          <a:p>
            <a:pPr lvl="0" algn="ctr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↓</a:t>
            </a:r>
          </a:p>
          <a:p>
            <a:pPr lvl="0" algn="ctr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LLM</a:t>
            </a:r>
          </a:p>
          <a:p>
            <a:pPr lvl="0" algn="ctr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↓</a:t>
            </a:r>
          </a:p>
          <a:p>
            <a:pPr lvl="0" algn="ctr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Response</a:t>
            </a:r>
          </a:p>
          <a:p>
            <a:pPr lvl="0" algn="ctr">
              <a:lnSpc>
                <a:spcPct val="150000"/>
              </a:lnSpc>
            </a:pPr>
            <a:endParaRPr lang="ro-RO" sz="160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 algn="ctr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Acesta este backend-ul unui chatbot modern.</a:t>
            </a:r>
          </a:p>
        </p:txBody>
      </p:sp>
    </p:spTree>
    <p:extLst>
      <p:ext uri="{BB962C8B-B14F-4D97-AF65-F5344CB8AC3E}">
        <p14:creationId xmlns:p14="http://schemas.microsoft.com/office/powerpoint/2010/main" val="2010088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/>
          <p:nvPr/>
        </p:nvSpPr>
        <p:spPr>
          <a:xfrm>
            <a:off x="0" y="-166916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/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/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 b="1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en-US" sz="3200" b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1 – </a:t>
            </a:r>
            <a:r>
              <a:rPr lang="en-US" sz="3200" b="1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Numărarea</a:t>
            </a:r>
            <a:r>
              <a:rPr lang="en-US" sz="3200" b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3200" b="1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Tokenilor</a:t>
            </a:r>
            <a:endParaRPr lang="en-US" sz="3200" b="1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/>
          <p:cNvSpPr txBox="1"/>
          <p:nvPr/>
        </p:nvSpPr>
        <p:spPr>
          <a:xfrm>
            <a:off x="922713" y="1080480"/>
            <a:ext cx="10346575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Creați un nou modul utils.py și implementați o funcție count_tokens(text) folosind biblioteca tiktoken</a:t>
            </a:r>
          </a:p>
          <a:p>
            <a:pPr lvl="0"/>
            <a:endParaRPr lang="ro-RO" sz="18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Cerințe:</a:t>
            </a:r>
          </a:p>
          <a:p>
            <a:pPr lvl="0"/>
            <a:endParaRPr lang="ro-RO" sz="18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Funcția trebuie să primească un text și să returneze numărul de tokeni.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Funcția trebuie să poată fi utilizată în orice componentă a aplicației.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Testați funcția folosind mai multe texte și afișați rezultatele.</a:t>
            </a:r>
          </a:p>
          <a:p>
            <a:pPr lvl="0"/>
            <a:endParaRPr lang="ro-RO" sz="18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Rezultat așteptat:</a:t>
            </a:r>
          </a:p>
          <a:p>
            <a:pPr lvl="0"/>
            <a:endParaRPr lang="ro-RO" sz="18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La finalul exercițiului trebuie să puteți calcula dimensiunea oricărui prompt sau mesaj exprimată în tokeni.</a:t>
            </a:r>
            <a:endParaRPr sz="18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337598D8-1686-7B4F-60E6-0D234532B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>
            <a:extLst>
              <a:ext uri="{FF2B5EF4-FFF2-40B4-BE49-F238E27FC236}">
                <a16:creationId xmlns:a16="http://schemas.microsoft.com/office/drawing/2014/main" id="{677C7598-998A-2B36-2DF7-DAABBABAEE20}"/>
              </a:ext>
            </a:extLst>
          </p:cNvPr>
          <p:cNvSpPr/>
          <p:nvPr/>
        </p:nvSpPr>
        <p:spPr>
          <a:xfrm>
            <a:off x="-159657" y="-14516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>
            <a:extLst>
              <a:ext uri="{FF2B5EF4-FFF2-40B4-BE49-F238E27FC236}">
                <a16:creationId xmlns:a16="http://schemas.microsoft.com/office/drawing/2014/main" id="{C0A3ECCE-366E-B47C-C7F7-744B1741A9E3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>
            <a:extLst>
              <a:ext uri="{FF2B5EF4-FFF2-40B4-BE49-F238E27FC236}">
                <a16:creationId xmlns:a16="http://schemas.microsoft.com/office/drawing/2014/main" id="{CAF392B4-029A-B1EF-FEFB-CDA865FF8B98}"/>
              </a:ext>
            </a:extLst>
          </p:cNvPr>
          <p:cNvSpPr txBox="1"/>
          <p:nvPr/>
        </p:nvSpPr>
        <p:spPr>
          <a:xfrm>
            <a:off x="0" y="327188"/>
            <a:ext cx="12192000" cy="129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GB" sz="3200" b="1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en-GB" sz="3200" b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2 – </a:t>
            </a:r>
            <a:r>
              <a:rPr lang="en-GB" sz="3200" b="1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Monitorizarea</a:t>
            </a:r>
            <a:r>
              <a:rPr lang="en-GB" sz="3200" b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GB" sz="3200" b="1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consumului</a:t>
            </a:r>
            <a:r>
              <a:rPr lang="en-GB" sz="3200" b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de </a:t>
            </a:r>
            <a:r>
              <a:rPr lang="en-GB" sz="3200" b="1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tokeni</a:t>
            </a:r>
            <a:endParaRPr lang="en-GB" sz="3200" b="1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 algn="ctr"/>
            <a:endParaRPr lang="ro-RO" sz="3200" b="1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 algn="ctr"/>
            <a:endParaRPr b="1">
              <a:solidFill>
                <a:schemeClr val="lt1"/>
              </a:solidFill>
            </a:endParaRPr>
          </a:p>
        </p:txBody>
      </p:sp>
      <p:sp>
        <p:nvSpPr>
          <p:cNvPr id="167" name="Google Shape;167;p22">
            <a:extLst>
              <a:ext uri="{FF2B5EF4-FFF2-40B4-BE49-F238E27FC236}">
                <a16:creationId xmlns:a16="http://schemas.microsoft.com/office/drawing/2014/main" id="{6844D36D-A2D1-BB46-7888-483E81D099D5}"/>
              </a:ext>
            </a:extLst>
          </p:cNvPr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>
            <a:extLst>
              <a:ext uri="{FF2B5EF4-FFF2-40B4-BE49-F238E27FC236}">
                <a16:creationId xmlns:a16="http://schemas.microsoft.com/office/drawing/2014/main" id="{1363FED4-74A7-F879-9330-F2787E999F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>
            <a:extLst>
              <a:ext uri="{FF2B5EF4-FFF2-40B4-BE49-F238E27FC236}">
                <a16:creationId xmlns:a16="http://schemas.microsoft.com/office/drawing/2014/main" id="{D41B59E5-24E0-863F-B94F-AC06D1CCB213}"/>
              </a:ext>
            </a:extLst>
          </p:cNvPr>
          <p:cNvSpPr txBox="1"/>
          <p:nvPr/>
        </p:nvSpPr>
        <p:spPr>
          <a:xfrm>
            <a:off x="922712" y="1151460"/>
            <a:ext cx="10346575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2 –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Monitorizarea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consumului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de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tokeni</a:t>
            </a:r>
            <a:endParaRPr lang="en-US" sz="16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endParaRPr lang="en-US" sz="16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Accesați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fișierul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conversation_context.py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adăugați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două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atribute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noi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: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input_tokens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output_tokens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Ambele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trebuie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inițializate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cu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valoarea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0</a:t>
            </a:r>
          </a:p>
          <a:p>
            <a:pPr lvl="0"/>
            <a:endParaRPr lang="en-US" sz="16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Cerințe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:</a:t>
            </a:r>
          </a:p>
          <a:p>
            <a:pPr lvl="0"/>
            <a:endParaRPr lang="en-US" sz="16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Utilizați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funcția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count_tokens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()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calcula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dimensiunea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mesajelor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trimise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către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model.</a:t>
            </a:r>
          </a:p>
          <a:p>
            <a:pPr lvl="0"/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Actualizați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input_tokens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după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fiecare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request.</a:t>
            </a:r>
          </a:p>
          <a:p>
            <a:pPr lvl="0"/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Actualizați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output_tokens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după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fiecare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răspuns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primit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de la model.</a:t>
            </a:r>
          </a:p>
          <a:p>
            <a:pPr lvl="0"/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Păstrați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acumularea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pe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întreaga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durată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conversației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endParaRPr lang="en-US" sz="16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Rezultat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așteptat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:</a:t>
            </a:r>
          </a:p>
          <a:p>
            <a:pPr lvl="0"/>
            <a:endParaRPr lang="en-US" sz="16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La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orice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moment al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conversației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trebuie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să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puteți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determina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:</a:t>
            </a:r>
          </a:p>
          <a:p>
            <a:pPr lvl="0"/>
            <a:endParaRPr lang="en-US" sz="16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numărul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total de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tokeni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trimiși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către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model;</a:t>
            </a:r>
          </a:p>
          <a:p>
            <a:pPr lvl="0"/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numărul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total de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tokeni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generați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de model.</a:t>
            </a:r>
            <a:endParaRPr sz="1600" i="1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688623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29877605-92A1-6E12-6523-23E4691DB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>
            <a:extLst>
              <a:ext uri="{FF2B5EF4-FFF2-40B4-BE49-F238E27FC236}">
                <a16:creationId xmlns:a16="http://schemas.microsoft.com/office/drawing/2014/main" id="{8F5D6841-EF3D-CF61-10CA-A91EE1A0E0DB}"/>
              </a:ext>
            </a:extLst>
          </p:cNvPr>
          <p:cNvSpPr/>
          <p:nvPr/>
        </p:nvSpPr>
        <p:spPr>
          <a:xfrm>
            <a:off x="0" y="355598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>
            <a:extLst>
              <a:ext uri="{FF2B5EF4-FFF2-40B4-BE49-F238E27FC236}">
                <a16:creationId xmlns:a16="http://schemas.microsoft.com/office/drawing/2014/main" id="{80248394-19AE-15F1-48FE-90037921239F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2">
            <a:extLst>
              <a:ext uri="{FF2B5EF4-FFF2-40B4-BE49-F238E27FC236}">
                <a16:creationId xmlns:a16="http://schemas.microsoft.com/office/drawing/2014/main" id="{74553A5A-825C-DB1D-BD87-9D97DACC432E}"/>
              </a:ext>
            </a:extLst>
          </p:cNvPr>
          <p:cNvSpPr txBox="1"/>
          <p:nvPr/>
        </p:nvSpPr>
        <p:spPr>
          <a:xfrm>
            <a:off x="923028" y="903069"/>
            <a:ext cx="10346575" cy="575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o-RO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Accesați fișierul config.py și definiți două constante INPUT_TOKEN_PRICE_PER_MILLION și OUTPUT_TOKEN_PRICE_PER_MILLION</a:t>
            </a:r>
          </a:p>
          <a:p>
            <a:pPr lvl="0"/>
            <a:r>
              <a:rPr lang="ro-RO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Utilizați următoarele valori orientative INPUT_TOKEN_PRICE_PER_MILLION = 2.0 și OUTPUT_TOKEN_PRICE_PER_MILLION = 10.0</a:t>
            </a:r>
          </a:p>
          <a:p>
            <a:pPr lvl="0"/>
            <a:endParaRPr lang="ro-RO" sz="16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Cerințe:</a:t>
            </a:r>
          </a:p>
          <a:p>
            <a:pPr lvl="0"/>
            <a:endParaRPr lang="ro-RO" sz="16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Calculați costul total al conversației folosind valorile acumulate în ConversationContext.</a:t>
            </a:r>
          </a:p>
          <a:p>
            <a:pPr lvl="0"/>
            <a:r>
              <a:rPr lang="ro-RO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Costul trebuie să includă atât tokenii de input, cât și tokenii de output.</a:t>
            </a:r>
          </a:p>
          <a:p>
            <a:pPr lvl="0"/>
            <a:r>
              <a:rPr lang="ro-RO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După fiecare mesaj afișați:</a:t>
            </a:r>
          </a:p>
          <a:p>
            <a:pPr lvl="0"/>
            <a:endParaRPr lang="ro-RO" sz="16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- input tokens</a:t>
            </a:r>
          </a:p>
          <a:p>
            <a:pPr lvl="0"/>
            <a:r>
              <a:rPr lang="ro-RO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- output tokens</a:t>
            </a:r>
          </a:p>
          <a:p>
            <a:pPr lvl="0"/>
            <a:r>
              <a:rPr lang="ro-RO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- total cost estimat</a:t>
            </a:r>
          </a:p>
          <a:p>
            <a:pPr lvl="0"/>
            <a:endParaRPr lang="ro-RO" sz="16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Hint:</a:t>
            </a:r>
          </a:p>
          <a:p>
            <a:pPr lvl="0"/>
            <a:r>
              <a:rPr lang="ro-RO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Costul total poate fi calculat folosind formula:</a:t>
            </a:r>
          </a:p>
          <a:p>
            <a:pPr lvl="0"/>
            <a:r>
              <a:rPr lang="ro-RO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input_tokens / 1_000_000 * INPUT_TOKEN_PRICE_PER_MILLION</a:t>
            </a:r>
          </a:p>
          <a:p>
            <a:pPr lvl="0"/>
            <a:r>
              <a:rPr lang="ro-RO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+</a:t>
            </a:r>
          </a:p>
          <a:p>
            <a:pPr lvl="0"/>
            <a:r>
              <a:rPr lang="ro-RO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output_tokens / 1_000_000 * OUTPUT_TOKEN_PRICE_PER_MILLION</a:t>
            </a:r>
          </a:p>
          <a:p>
            <a:pPr lvl="0"/>
            <a:endParaRPr lang="ro-RO" sz="16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Rezultat aștepta</a:t>
            </a:r>
            <a:endParaRPr lang="ro-RO" sz="1600">
              <a:solidFill>
                <a:schemeClr val="lt1"/>
              </a:solidFill>
              <a:latin typeface="Jost"/>
              <a:ea typeface="Jost"/>
              <a:cs typeface="Jost"/>
            </a:endParaRPr>
          </a:p>
          <a:p>
            <a:pPr lvl="0"/>
            <a:r>
              <a:rPr lang="ro-RO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După fiecare interacțiune utilizatorul trebuie să poată vedea consumul total de tokeni și costul estimat al conversației.</a:t>
            </a:r>
            <a:endParaRPr lang="en-US" sz="16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66" name="Google Shape;166;p22">
            <a:extLst>
              <a:ext uri="{FF2B5EF4-FFF2-40B4-BE49-F238E27FC236}">
                <a16:creationId xmlns:a16="http://schemas.microsoft.com/office/drawing/2014/main" id="{2510371C-A735-85D6-080B-CA9F0575B395}"/>
              </a:ext>
            </a:extLst>
          </p:cNvPr>
          <p:cNvSpPr txBox="1"/>
          <p:nvPr/>
        </p:nvSpPr>
        <p:spPr>
          <a:xfrm>
            <a:off x="-1" y="169613"/>
            <a:ext cx="121920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it-IT" sz="3200" b="1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it-IT" sz="3200" b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3 – </a:t>
            </a:r>
            <a:r>
              <a:rPr lang="it-IT" sz="3200" b="1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Estimarea</a:t>
            </a:r>
            <a:r>
              <a:rPr lang="it-IT" sz="3200" b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3200" b="1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costurilor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7" name="Google Shape;167;p22">
            <a:extLst>
              <a:ext uri="{FF2B5EF4-FFF2-40B4-BE49-F238E27FC236}">
                <a16:creationId xmlns:a16="http://schemas.microsoft.com/office/drawing/2014/main" id="{DDE73D94-36A4-BF35-F1AB-13EF2CD50BC8}"/>
              </a:ext>
            </a:extLst>
          </p:cNvPr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>
            <a:extLst>
              <a:ext uri="{FF2B5EF4-FFF2-40B4-BE49-F238E27FC236}">
                <a16:creationId xmlns:a16="http://schemas.microsoft.com/office/drawing/2014/main" id="{4F8010EC-F859-A359-F79E-20467D0D3C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355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0965EF73-1782-AE89-0AB3-071DA18F5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>
            <a:extLst>
              <a:ext uri="{FF2B5EF4-FFF2-40B4-BE49-F238E27FC236}">
                <a16:creationId xmlns:a16="http://schemas.microsoft.com/office/drawing/2014/main" id="{B312E99B-5844-CE96-E333-F160AD81C31A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>
            <a:extLst>
              <a:ext uri="{FF2B5EF4-FFF2-40B4-BE49-F238E27FC236}">
                <a16:creationId xmlns:a16="http://schemas.microsoft.com/office/drawing/2014/main" id="{328DF5B1-5847-C211-E071-569FF3ED7581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>
            <a:extLst>
              <a:ext uri="{FF2B5EF4-FFF2-40B4-BE49-F238E27FC236}">
                <a16:creationId xmlns:a16="http://schemas.microsoft.com/office/drawing/2014/main" id="{D19BE353-32E7-1844-CD1F-361B8680FB75}"/>
              </a:ext>
            </a:extLst>
          </p:cNvPr>
          <p:cNvSpPr txBox="1"/>
          <p:nvPr/>
        </p:nvSpPr>
        <p:spPr>
          <a:xfrm>
            <a:off x="-1" y="169613"/>
            <a:ext cx="121920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it-IT" sz="3200" b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PROJECT REQUIREMENTS (</a:t>
            </a:r>
            <a:r>
              <a:rPr lang="it-IT" sz="3200" b="1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Mandatory</a:t>
            </a:r>
            <a:r>
              <a:rPr lang="it-IT" sz="3200" b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- 10p)</a:t>
            </a:r>
          </a:p>
        </p:txBody>
      </p:sp>
      <p:sp>
        <p:nvSpPr>
          <p:cNvPr id="167" name="Google Shape;167;p22">
            <a:extLst>
              <a:ext uri="{FF2B5EF4-FFF2-40B4-BE49-F238E27FC236}">
                <a16:creationId xmlns:a16="http://schemas.microsoft.com/office/drawing/2014/main" id="{B26672E4-6F16-1626-27F8-239BF2808D8D}"/>
              </a:ext>
            </a:extLst>
          </p:cNvPr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>
            <a:extLst>
              <a:ext uri="{FF2B5EF4-FFF2-40B4-BE49-F238E27FC236}">
                <a16:creationId xmlns:a16="http://schemas.microsoft.com/office/drawing/2014/main" id="{B0771B52-2255-294E-E9AA-84662E2DFB2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>
            <a:extLst>
              <a:ext uri="{FF2B5EF4-FFF2-40B4-BE49-F238E27FC236}">
                <a16:creationId xmlns:a16="http://schemas.microsoft.com/office/drawing/2014/main" id="{7A9F2EB2-DC21-134E-1ACF-1EC4AC99605A}"/>
              </a:ext>
            </a:extLst>
          </p:cNvPr>
          <p:cNvSpPr txBox="1"/>
          <p:nvPr/>
        </p:nvSpPr>
        <p:spPr>
          <a:xfrm>
            <a:off x="843199" y="910326"/>
            <a:ext cx="10346575" cy="5324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o-RO" sz="2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Pentru ca proiectul să fie considerat complet, trebuie să implementeze toate funcționalitățile dezvoltate în cadrul laboratoarelor:</a:t>
            </a:r>
          </a:p>
          <a:p>
            <a:pPr lvl="0"/>
            <a:endParaRPr lang="ro-RO" sz="20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2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Agent cu personalitate proprie</a:t>
            </a:r>
          </a:p>
          <a:p>
            <a:pPr lvl="0"/>
            <a:r>
              <a:rPr lang="ro-RO" sz="2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Conversation Context</a:t>
            </a:r>
          </a:p>
          <a:p>
            <a:pPr lvl="0"/>
            <a:r>
              <a:rPr lang="ro-RO" sz="2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Dynamic System Prompt</a:t>
            </a:r>
          </a:p>
          <a:p>
            <a:pPr lvl="0"/>
            <a:r>
              <a:rPr lang="ro-RO" sz="2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Knowledge Base (Prompts, Facts, Procedures)</a:t>
            </a:r>
          </a:p>
          <a:p>
            <a:pPr lvl="0"/>
            <a:r>
              <a:rPr lang="ro-RO" sz="2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Registries pentru Facts și Procedures</a:t>
            </a:r>
          </a:p>
          <a:p>
            <a:pPr lvl="0"/>
            <a:r>
              <a:rPr lang="ro-RO" sz="2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Chunking</a:t>
            </a:r>
          </a:p>
          <a:p>
            <a:pPr lvl="0"/>
            <a:r>
              <a:rPr lang="ro-RO" sz="2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Embeddings Generation</a:t>
            </a:r>
          </a:p>
          <a:p>
            <a:pPr lvl="0"/>
            <a:r>
              <a:rPr lang="ro-RO" sz="2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Semantic Search</a:t>
            </a:r>
          </a:p>
          <a:p>
            <a:pPr lvl="0"/>
            <a:r>
              <a:rPr lang="ro-RO" sz="2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Retrieval-based Context Injection</a:t>
            </a:r>
          </a:p>
          <a:p>
            <a:pPr lvl="0"/>
            <a:r>
              <a:rPr lang="ro-RO" sz="2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Token Usage Tracking</a:t>
            </a:r>
          </a:p>
          <a:p>
            <a:pPr lvl="0"/>
            <a:r>
              <a:rPr lang="ro-RO" sz="2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Cost Estimation</a:t>
            </a:r>
          </a:p>
          <a:p>
            <a:pPr lvl="0"/>
            <a:endParaRPr lang="ro-RO" sz="20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2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Toate cerințele de mai sus reprezintă baza proiectului și valorează împreună 10p.</a:t>
            </a:r>
          </a:p>
          <a:p>
            <a:pPr lvl="0"/>
            <a:endParaRPr lang="ro-RO" sz="20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3794007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8BE23117-A05C-26FA-E068-4EC6ACC79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>
            <a:extLst>
              <a:ext uri="{FF2B5EF4-FFF2-40B4-BE49-F238E27FC236}">
                <a16:creationId xmlns:a16="http://schemas.microsoft.com/office/drawing/2014/main" id="{96BA4B30-719E-280D-BB96-AF81F17216A2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>
            <a:extLst>
              <a:ext uri="{FF2B5EF4-FFF2-40B4-BE49-F238E27FC236}">
                <a16:creationId xmlns:a16="http://schemas.microsoft.com/office/drawing/2014/main" id="{FE0F9605-DF48-59CB-9E30-CDAD9187E27D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>
            <a:extLst>
              <a:ext uri="{FF2B5EF4-FFF2-40B4-BE49-F238E27FC236}">
                <a16:creationId xmlns:a16="http://schemas.microsoft.com/office/drawing/2014/main" id="{6672215B-8C1D-6AE3-EBF3-44862E0E3683}"/>
              </a:ext>
            </a:extLst>
          </p:cNvPr>
          <p:cNvSpPr txBox="1"/>
          <p:nvPr/>
        </p:nvSpPr>
        <p:spPr>
          <a:xfrm>
            <a:off x="-1" y="169613"/>
            <a:ext cx="121920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it-IT" sz="3200" b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REQUIRED EXTENSIONS (</a:t>
            </a:r>
            <a:r>
              <a:rPr lang="it-IT" sz="3200" b="1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până</a:t>
            </a:r>
            <a:r>
              <a:rPr lang="it-IT" sz="3200" b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la 12p)</a:t>
            </a:r>
          </a:p>
        </p:txBody>
      </p:sp>
      <p:sp>
        <p:nvSpPr>
          <p:cNvPr id="167" name="Google Shape;167;p22">
            <a:extLst>
              <a:ext uri="{FF2B5EF4-FFF2-40B4-BE49-F238E27FC236}">
                <a16:creationId xmlns:a16="http://schemas.microsoft.com/office/drawing/2014/main" id="{2FEAC41C-850F-4AD3-4D6B-2DF3DF8ECC13}"/>
              </a:ext>
            </a:extLst>
          </p:cNvPr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>
            <a:extLst>
              <a:ext uri="{FF2B5EF4-FFF2-40B4-BE49-F238E27FC236}">
                <a16:creationId xmlns:a16="http://schemas.microsoft.com/office/drawing/2014/main" id="{AE257C21-F1AF-ED79-32E7-9A17DCA29C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>
            <a:extLst>
              <a:ext uri="{FF2B5EF4-FFF2-40B4-BE49-F238E27FC236}">
                <a16:creationId xmlns:a16="http://schemas.microsoft.com/office/drawing/2014/main" id="{F1A6FCFF-ED8A-7506-E8B3-E635DA548001}"/>
              </a:ext>
            </a:extLst>
          </p:cNvPr>
          <p:cNvSpPr txBox="1"/>
          <p:nvPr/>
        </p:nvSpPr>
        <p:spPr>
          <a:xfrm>
            <a:off x="843199" y="910326"/>
            <a:ext cx="10346575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Aceste criterii urmăresc calitatea soluției și maturitatea implementării.</a:t>
            </a:r>
          </a:p>
          <a:p>
            <a:pPr lvl="0"/>
            <a:endParaRPr lang="ro-RO" sz="18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Context Recycling / Context Compression (2p)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Gestionarea inteligentă a contextului atunci când se apropie limita de tokeni.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Cost Optimization (2p)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Reducerea dimensiunii prompturilor și încărcarea doar a informațiilor relevante.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Robust Error Handling (2p)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Tratarea elegantă a erorilor de rețea, API și fișiere lipsă.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Fallback Strategy (2p)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Comportament alternativ atunci când modelul nu poate răspunde sau Retrieval-ul nu găsește informații relevante.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Scalability &amp; Extensibility (2p)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Arhitectură care permite adăugarea facilă de tool-uri, facts și procedures.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Code Quality (2p)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Correctness, Robustness, Clarity și Readability.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Cod pregătit pentru Code Review.</a:t>
            </a:r>
          </a:p>
        </p:txBody>
      </p:sp>
    </p:spTree>
    <p:extLst>
      <p:ext uri="{BB962C8B-B14F-4D97-AF65-F5344CB8AC3E}">
        <p14:creationId xmlns:p14="http://schemas.microsoft.com/office/powerpoint/2010/main" val="1878946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FABDC586-9424-25BC-30A3-206380CA7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>
            <a:extLst>
              <a:ext uri="{FF2B5EF4-FFF2-40B4-BE49-F238E27FC236}">
                <a16:creationId xmlns:a16="http://schemas.microsoft.com/office/drawing/2014/main" id="{FE1D3009-6324-8976-CB34-764F96ABDC8F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>
            <a:extLst>
              <a:ext uri="{FF2B5EF4-FFF2-40B4-BE49-F238E27FC236}">
                <a16:creationId xmlns:a16="http://schemas.microsoft.com/office/drawing/2014/main" id="{B2308764-2939-0FE7-D103-90C407E72E42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>
            <a:extLst>
              <a:ext uri="{FF2B5EF4-FFF2-40B4-BE49-F238E27FC236}">
                <a16:creationId xmlns:a16="http://schemas.microsoft.com/office/drawing/2014/main" id="{313BFC94-4CAE-BA36-2E90-17B348F111FE}"/>
              </a:ext>
            </a:extLst>
          </p:cNvPr>
          <p:cNvSpPr txBox="1"/>
          <p:nvPr/>
        </p:nvSpPr>
        <p:spPr>
          <a:xfrm>
            <a:off x="-1" y="169613"/>
            <a:ext cx="121920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fr-FR" sz="3200" b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OPTIONAL ENHANCEMENTS</a:t>
            </a:r>
            <a:endParaRPr lang="it-IT" sz="3200" b="1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67" name="Google Shape;167;p22">
            <a:extLst>
              <a:ext uri="{FF2B5EF4-FFF2-40B4-BE49-F238E27FC236}">
                <a16:creationId xmlns:a16="http://schemas.microsoft.com/office/drawing/2014/main" id="{92F94EA8-ABC8-4BC6-225E-FFE0D1F40FA1}"/>
              </a:ext>
            </a:extLst>
          </p:cNvPr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>
            <a:extLst>
              <a:ext uri="{FF2B5EF4-FFF2-40B4-BE49-F238E27FC236}">
                <a16:creationId xmlns:a16="http://schemas.microsoft.com/office/drawing/2014/main" id="{D14B3C63-0929-96C7-FFBF-56E77181F0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>
            <a:extLst>
              <a:ext uri="{FF2B5EF4-FFF2-40B4-BE49-F238E27FC236}">
                <a16:creationId xmlns:a16="http://schemas.microsoft.com/office/drawing/2014/main" id="{CCF69674-1E36-E848-1BBE-D7392CFE4449}"/>
              </a:ext>
            </a:extLst>
          </p:cNvPr>
          <p:cNvSpPr txBox="1"/>
          <p:nvPr/>
        </p:nvSpPr>
        <p:spPr>
          <a:xfrm>
            <a:off x="803443" y="754348"/>
            <a:ext cx="4782349" cy="6186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Persistence &amp; Sessions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Session Management (2p)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Multiple Conversations per User (2p)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Export / Import Conversation History (1p)</a:t>
            </a:r>
          </a:p>
          <a:p>
            <a:pPr lvl="0"/>
            <a:endParaRPr lang="ro-RO" sz="18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User Interface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Improved CLI Experience (1p)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Colored Terminal UI (1p)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Interactive Menu System (2p)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Minimal Web UI (3p)</a:t>
            </a:r>
          </a:p>
          <a:p>
            <a:pPr lvl="0"/>
            <a:endParaRPr lang="ro-RO" sz="18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Backend &amp; Architecture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HTTP Backend Service (3p)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REST API Endpoints (2p)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Multi-user Support (3p)</a:t>
            </a:r>
          </a:p>
          <a:p>
            <a:pPr lvl="0"/>
            <a:endParaRPr lang="ro-RO" sz="18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AI Features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Extra Tool (1p / tool, max 3p)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Dynamic Tool Discovery (3p)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Parallel Tool Execution (3p)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Multi-step Tool Reasoning (4p)</a:t>
            </a:r>
          </a:p>
          <a:p>
            <a:pPr lvl="0"/>
            <a:endParaRPr lang="ro-RO" sz="18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" name="Google Shape;169;p22">
            <a:extLst>
              <a:ext uri="{FF2B5EF4-FFF2-40B4-BE49-F238E27FC236}">
                <a16:creationId xmlns:a16="http://schemas.microsoft.com/office/drawing/2014/main" id="{6641277A-0347-C92F-424B-2599B109EAE1}"/>
              </a:ext>
            </a:extLst>
          </p:cNvPr>
          <p:cNvSpPr txBox="1"/>
          <p:nvPr/>
        </p:nvSpPr>
        <p:spPr>
          <a:xfrm>
            <a:off x="6095999" y="912998"/>
            <a:ext cx="4782349" cy="5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Knowledge &amp; Retrieval</a:t>
            </a:r>
          </a:p>
          <a:p>
            <a:pPr lvl="0"/>
            <a:endParaRPr lang="ro-RO" sz="18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Chunk Overlap Strategy (2p)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Retrieval Thresholds &amp; Tuning (2p)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Embedding Cache (2p)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Incremental Re-indexing (3p)</a:t>
            </a:r>
          </a:p>
          <a:p>
            <a:pPr lvl="0"/>
            <a:endParaRPr lang="ro-RO" sz="18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Model Orchestration</a:t>
            </a:r>
          </a:p>
          <a:p>
            <a:pPr lvl="0"/>
            <a:endParaRPr lang="ro-RO" sz="18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Multiple Models for Different Tasks (4p)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Dedicated Embedding Model + Chat Model (2p)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Automatic Model Selection (4p)</a:t>
            </a:r>
          </a:p>
          <a:p>
            <a:pPr lvl="0"/>
            <a:endParaRPr lang="ro-RO" sz="18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Observability</a:t>
            </a:r>
          </a:p>
          <a:p>
            <a:pPr lvl="0"/>
            <a:endParaRPr lang="ro-RO" sz="18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Structured Logging (2p)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Performance Metrics (2p)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Prompt / Token Analytics Dashboard (3p)</a:t>
            </a:r>
          </a:p>
        </p:txBody>
      </p:sp>
    </p:spTree>
    <p:extLst>
      <p:ext uri="{BB962C8B-B14F-4D97-AF65-F5344CB8AC3E}">
        <p14:creationId xmlns:p14="http://schemas.microsoft.com/office/powerpoint/2010/main" val="292927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4"/>
          <p:cNvSpPr/>
          <p:nvPr/>
        </p:nvSpPr>
        <p:spPr>
          <a:xfrm>
            <a:off x="0" y="-2"/>
            <a:ext cx="12192000" cy="621556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4"/>
          <p:cNvSpPr txBox="1"/>
          <p:nvPr/>
        </p:nvSpPr>
        <p:spPr>
          <a:xfrm>
            <a:off x="-27130" y="6329858"/>
            <a:ext cx="12219127" cy="386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283F0"/>
                </a:solidFill>
                <a:latin typeface="Arial"/>
                <a:ea typeface="Arial"/>
                <a:cs typeface="Arial"/>
                <a:sym typeface="Arial"/>
              </a:rPr>
              <a:t>office@digitalstack.ro		www.digitalstack.ro</a:t>
            </a:r>
            <a:endParaRPr sz="1400">
              <a:solidFill>
                <a:srgbClr val="0283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24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9296" y="1885673"/>
            <a:ext cx="9693408" cy="1971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2026-07-16T10:51:09Z</dcterms:modified>
</cp:coreProperties>
</file>